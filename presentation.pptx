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FALLSTUDIE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1F2128"/>
                </a:solidFill>
                <a:latin typeface="Helvetica Neue"/>
              </a:rPr>
              <a:t>AI-Assisted Ticket Triage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4F545C"/>
                </a:solidFill>
                <a:latin typeface="Helvetica Neue"/>
              </a:rPr>
              <a:t>Retrieval-Augmented Triage + Knowledge-Engineering Prioritization</a:t>
            </a:r>
            <a:br/>
            <a:r>
              <a:t>für den Bank-IT-Support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B8D98"/>
                </a:solidFill>
                <a:latin typeface="Helvetica Neue"/>
              </a:rPr>
              <a:t>FastAPI · React · scikit-learn · LiteLLM · Render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B8D98"/>
                </a:solidFill>
                <a:latin typeface="Helvetica Neue"/>
              </a:rPr>
              <a:t>Claudio Vinci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PROBLEM &amp;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Bank-IT-Support ertrinkt in unstrukturierten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7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700">
                <a:solidFill>
                  <a:srgbClr val="1F2128"/>
                </a:solidFill>
                <a:latin typeface="Helvetica Neue"/>
              </a:rPr>
              <a:t>Operator:innen erhalten täglich 50–200 Tickets — VPN, Passwort, SEPA, Mobile-App, Compliance.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700">
                <a:solidFill>
                  <a:srgbClr val="1F2128"/>
                </a:solidFill>
                <a:latin typeface="Helvetica Neue"/>
              </a:rPr>
              <a:t>Klassische „AI-Triage“ versteckt ihre Begründung oder ignoriert historische Routing-Entscheidungen.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700">
                <a:solidFill>
                  <a:srgbClr val="1F2128"/>
                </a:solidFill>
                <a:latin typeface="Helvetica Neue"/>
              </a:rPr>
              <a:t>Lösung: Empfehlung mit Begründung + Top-3 ähnliche bereits gelöste Fälle + KE-Priorisierung.</a:t>
            </a:r>
          </a:p>
          <a:p>
            <a:pPr>
              <a:lnSpc>
                <a:spcPct val="135000"/>
              </a:lnSpc>
            </a:pPr>
            <a:r>
              <a:rPr sz="17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700">
                <a:solidFill>
                  <a:srgbClr val="1F2128"/>
                </a:solidFill>
                <a:latin typeface="Helvetica Neue"/>
              </a:rPr>
              <a:t>Operator bleibt in Kontrolle: AI schlägt vor, Mensch akzeptiert/überschreibt, Entscheidung trainiert das System weiter.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828800"/>
            <a:ext cx="3108960" cy="210312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965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E6AD2"/>
                </a:solidFill>
                <a:latin typeface="Helvetica Neue"/>
              </a:rPr>
              <a:t>16 %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788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F545C"/>
                </a:solidFill>
                <a:latin typeface="Helvetica Neue"/>
              </a:rPr>
              <a:t>der Tickets im Demo-Korpus sind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3154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128"/>
                </a:solidFill>
                <a:latin typeface="Helvetica Neue"/>
              </a:rPr>
              <a:t>Self-Service-fähig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520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B8D98"/>
                </a:solidFill>
                <a:latin typeface="Helvetica Neue"/>
              </a:rPr>
              <a:t>→ Runbook statt Queue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95360" y="4160520"/>
            <a:ext cx="3108960" cy="182880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429768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5E6AD2"/>
                </a:solidFill>
                <a:latin typeface="Helvetica Neue"/>
              </a:rPr>
              <a:t>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5120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F545C"/>
                </a:solidFill>
                <a:latin typeface="Helvetica Neue"/>
              </a:rPr>
              <a:t>Tickets im Live-Korpus,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486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128"/>
                </a:solidFill>
                <a:latin typeface="Helvetica Neue"/>
              </a:rPr>
              <a:t>100 % KE-priorisiert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ARCHITEKTUR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Hexagonal — Dependency-Arrows zeigen einwärts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2128"/>
                </a:solidFill>
                <a:latin typeface="Helvetica Neue"/>
              </a:rPr>
              <a:t>Interfaces (FastAPI)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F545C"/>
                </a:solidFill>
                <a:latin typeface="Helvetica Neue"/>
              </a:rPr>
              <a:t>routes · schemas · middleware · error handlers · rate-limit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FDF6E3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2128"/>
                </a:solidFill>
                <a:latin typeface="Helvetica Neue"/>
              </a:rPr>
              <a:t>Application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F545C"/>
                </a:solidFill>
                <a:latin typeface="Helvetica Neue"/>
              </a:rPr>
              <a:t>use cases · ports · DTOs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02336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E8F4EE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2128"/>
                </a:solidFill>
                <a:latin typeface="Helvetica Neue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480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F545C"/>
                </a:solidFill>
                <a:latin typeface="Helvetica Neue"/>
              </a:rPr>
              <a:t>entities · enums · rules · pure Python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120640"/>
            <a:ext cx="6858000" cy="914400"/>
          </a:xfrm>
          <a:prstGeom prst="roundRect">
            <a:avLst>
              <a:gd name="adj" fmla="val 8000"/>
            </a:avLst>
          </a:prstGeom>
          <a:solidFill>
            <a:srgbClr val="ECF1F5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2128"/>
                </a:solidFill>
                <a:latin typeface="Helvetica Neue"/>
              </a:rPr>
              <a:t>Infrastructure (Adapters)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F545C"/>
                </a:solidFill>
                <a:latin typeface="Helvetica Neue"/>
              </a:rPr>
              <a:t>SQLAlchemy · LiteLLM · scikit-learn · YAML policy · logging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2128"/>
                </a:solidFill>
                <a:latin typeface="Helvetica Neue"/>
              </a:rPr>
              <a:t>Vertrag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317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300">
                <a:solidFill>
                  <a:srgbClr val="1F2128"/>
                </a:solidFill>
                <a:latin typeface="Helvetica Neue"/>
              </a:rPr>
              <a:t>Domain importiert kein Framework.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300">
                <a:solidFill>
                  <a:srgbClr val="1F2128"/>
                </a:solidFill>
                <a:latin typeface="Helvetica Neue"/>
              </a:rPr>
              <a:t>Application kennt nur Ports, keine Adapter.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300">
                <a:solidFill>
                  <a:srgbClr val="1F2128"/>
                </a:solidFill>
                <a:latin typeface="Helvetica Neue"/>
              </a:rPr>
              <a:t>4 Ports: Classifier · SimilarTickets · Prioritization · TicketRepository.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300">
                <a:solidFill>
                  <a:srgbClr val="1F2128"/>
                </a:solidFill>
                <a:latin typeface="Helvetica Neue"/>
              </a:rPr>
              <a:t>Swap von SQLite→Postgres oder LiteLLM→anderer LLM: 1 Env-Var bzw. 1 Datei.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300">
                <a:solidFill>
                  <a:srgbClr val="1F2128"/>
                </a:solidFill>
                <a:latin typeface="Helvetica Neue"/>
              </a:rPr>
              <a:t>12 Use Cases · 7 Entitäten · alles per Pydantic-Schema an die API gebunden.</a:t>
            </a:r>
          </a:p>
          <a:p>
            <a:pPr>
              <a:lnSpc>
                <a:spcPct val="135000"/>
              </a:lnSpc>
            </a:pPr>
            <a:r>
              <a:rPr sz="13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300">
                <a:solidFill>
                  <a:srgbClr val="1F2128"/>
                </a:solidFill>
                <a:latin typeface="Helvetica Neue"/>
              </a:rPr>
              <a:t>4 ADRs dokumentieren architektonische Entscheidungen (docs/adr/).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DOMÄNENMODELL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7 Entitäten · 12 Use Cases · 4 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4791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Kern-Aggregate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82880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9631" y="1901952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TriageAnalysis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1" y="2194560"/>
            <a:ext cx="4791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Output des Klassifikators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79191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752344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Prioritization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044951"/>
            <a:ext cx="4791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KE-Bewertung (neu)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679191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1" y="2752344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TriageDecision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3044951"/>
            <a:ext cx="4791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Review-Entscheidung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29584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02736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895344"/>
            <a:ext cx="4791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Team/Bearbeitung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529584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9631" y="3602736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SimilarCase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1" y="3895344"/>
            <a:ext cx="4791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RAG-Nachbar (read-only)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379976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453128"/>
            <a:ext cx="47914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TicketEvent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745736"/>
            <a:ext cx="47914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Audit-Trail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166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2128"/>
                </a:solidFill>
                <a:latin typeface="Helvetica Neue"/>
              </a:rPr>
              <a:t>Use Cases (Auszug)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321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4F545C"/>
                </a:solidFill>
                <a:latin typeface="Helvetica Neue"/>
              </a:rPr>
              <a:t>triage_ticket  ·  save_triage_decision  ·  assign_ticket  ·  escalate_ticket  ·  update_ticket_status  ·  backfill_prioritization  ·  get_dashboard_analytics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AI-PIPELINE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Drei Schichten — Klassifikation × Retrieval × Wissensregeln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5E6AD2"/>
                </a:solidFill>
                <a:latin typeface="Helvetica Neue"/>
              </a:rPr>
              <a:t>1.  LLM-Klassifikation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F545C"/>
                </a:solidFill>
                <a:latin typeface="Helvetica Neue"/>
              </a:rPr>
              <a:t>LiteLLM-Proxy mit Azure GPT-OSS-120B.</a:t>
            </a:r>
            <a:br/>
            <a:r>
              <a:t>Strukturierte JSON-Ausgabe: category, priority, suggested_team, summary, next_step, rationale.</a:t>
            </a:r>
            <a:br/>
            <a:r>
              <a:t>Recovery für abgeschnittene Completions.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383280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0A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74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30A46C"/>
                </a:solidFill>
                <a:latin typeface="Helvetica Neue"/>
              </a:rPr>
              <a:t>2.  Retrieval (RAG)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F545C"/>
                </a:solidFill>
                <a:latin typeface="Helvetica Neue"/>
              </a:rPr>
              <a:t>scikit-learn TF-IDF + Cosine NearestNeighbors.</a:t>
            </a:r>
            <a:br/>
            <a:r>
              <a:t>Korpus: ausschließlich Tickets mit reviewed_by IS NOT NULL.</a:t>
            </a:r>
            <a:br/>
            <a:r>
              <a:t>Top-3 ähnliche Fälle werden dem LLM als Kontext UND dem Operator in der UI angezeigt.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937760"/>
            <a:ext cx="111556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A623"/>
                </a:solidFill>
                <a:latin typeface="Helvetica Neue"/>
              </a:rPr>
              <a:t>3.  Knowledge-Engineering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949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4F545C"/>
                </a:solidFill>
                <a:latin typeface="Helvetica Neue"/>
              </a:rPr>
              <a:t>YAML-Policy mit 17 Regeln in 4 Tiers.</a:t>
            </a:r>
            <a:br/>
            <a:r>
              <a:t>Bewertet jedes Ticket auf Wichtigkeit · Dringlichkeit · Aufwand · Lösbarkeit.</a:t>
            </a:r>
            <a:br/>
            <a:r>
              <a:t>Aufwand wird aus RAG-Nachbarn gemittelt (lernend), Regeln sind explainable.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KNOWLEDGE-ENGINEERING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Prio-Score = Wichtigkeit × Dringlichkeit  (1–25)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594360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219456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B8D98"/>
                </a:solidFill>
                <a:latin typeface="Helvetica Neue"/>
              </a:rPr>
              <a:t>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74519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B8D98"/>
                </a:solidFill>
                <a:latin typeface="Helvetica Neue"/>
              </a:rPr>
              <a:t>Antwort auf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874519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8B8D98"/>
                </a:solidFill>
                <a:latin typeface="Helvetica Neue"/>
              </a:rPr>
              <a:t>Quelle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49285"/>
            <a:ext cx="219456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128"/>
                </a:solidFill>
                <a:latin typeface="Helvetica Neue"/>
              </a:rPr>
              <a:t>Wichtigkeit (1–5)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449285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Wie kritisch ist das?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49285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YAML-Regel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24051"/>
            <a:ext cx="219456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128"/>
                </a:solidFill>
                <a:latin typeface="Helvetica Neue"/>
              </a:rPr>
              <a:t>Dringlichkeit (1–5)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024051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Wie schnell?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24051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YAML-Regel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98817"/>
            <a:ext cx="219456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128"/>
                </a:solidFill>
                <a:latin typeface="Helvetica Neue"/>
              </a:rPr>
              <a:t>Aufwand (Min.)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98817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Wie teuer?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98817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Ø RAG-Nachbarn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73582"/>
            <a:ext cx="219456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128"/>
                </a:solidFill>
                <a:latin typeface="Helvetica Neue"/>
              </a:rPr>
              <a:t>Lösbarkeit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173582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Wer muss ran?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173582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YAML-Regel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48348"/>
            <a:ext cx="219456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128"/>
                </a:solidFill>
                <a:latin typeface="Helvetica Neue"/>
              </a:rPr>
              <a:t>Prio-Score (1–25)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748348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Backlog-Sort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748348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Wichtigkeit × Dringlichkeit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23114"/>
            <a:ext cx="219456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128"/>
                </a:solidFill>
                <a:latin typeface="Helvetica Neue"/>
              </a:rPr>
              <a:t>Auto-Resolve?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323114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Self-Service möglich?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323114"/>
            <a:ext cx="1828800" cy="57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self-service ∧ confidence &gt; 0.6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1828800"/>
            <a:ext cx="4846320" cy="4023360"/>
          </a:xfrm>
          <a:prstGeom prst="roundRect">
            <a:avLst>
              <a:gd name="adj" fmla="val 8000"/>
            </a:avLst>
          </a:prstGeom>
          <a:solidFill>
            <a:srgbClr val="161821"/>
          </a:solidFill>
          <a:ln w="9525">
            <a:solidFill>
              <a:srgbClr val="1618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100">
                <a:solidFill>
                  <a:srgbClr val="E6E6E6"/>
                </a:solidFill>
                <a:latin typeface="Menlo"/>
              </a:rPr>
              <a:t>rules: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- id: aml-critical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  match: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    tags_any: [aml, sanctions, kyc]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    title_any: [aml, sanktion, kyc]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  set: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    impact_score: 5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    urgency_score: 5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    solvability: specialist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    rationale: "AML — sofortige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      Eskalation."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default: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impact_score: 2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urgency_score: 2</a:t>
            </a:r>
            <a:br/>
            <a:r>
              <a:rPr sz="1100">
                <a:solidFill>
                  <a:srgbClr val="E6E6E6"/>
                </a:solidFill>
                <a:latin typeface="Menlo"/>
              </a:rPr>
              <a:t>  solvability: l2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AI-CODING-AGENTS IM EINSATZ  (BEWERTUNGSGEWICHT: 40 %)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Reflektierter Spec-first-Workflow mit Claude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7772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5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500">
                <a:solidFill>
                  <a:srgbClr val="1F2128"/>
                </a:solidFill>
                <a:latin typeface="Helvetica Neue"/>
              </a:rPr>
              <a:t>Primary Agent: Claude Code (Anthropic), Modell Opus 4.7 — Hexagonal-Architektur-fest, kontextstark.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500">
                <a:solidFill>
                  <a:srgbClr val="1F2128"/>
                </a:solidFill>
                <a:latin typeface="Helvetica Neue"/>
              </a:rPr>
              <a:t>Spec-first: jede neue Funktion startet mit 1-Absatz-Vertrag (Input/Output, Ports, Entitäten).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500">
                <a:solidFill>
                  <a:srgbClr val="1F2128"/>
                </a:solidFill>
                <a:latin typeface="Helvetica Neue"/>
              </a:rPr>
              <a:t>TDD-Recipe in AGENTS.md kodifiziert: Test schreiben → rot → Use Case → Adapter → Route → Frontend.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500">
                <a:solidFill>
                  <a:srgbClr val="1F2128"/>
                </a:solidFill>
                <a:latin typeface="Helvetica Neue"/>
              </a:rPr>
              <a:t>Explore-Subagents für Codebase-Maps vor jedem größeren Eingriff (parallel, schont Kontext).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500">
                <a:solidFill>
                  <a:srgbClr val="1F2128"/>
                </a:solidFill>
                <a:latin typeface="Helvetica Neue"/>
              </a:rPr>
              <a:t>Plan-Mode für nicht-triviale Änderungen — Approval bevor geschrieben wird.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500">
                <a:solidFill>
                  <a:srgbClr val="1F2128"/>
                </a:solidFill>
                <a:latin typeface="Helvetica Neue"/>
              </a:rPr>
              <a:t>Hard-Rules in AGENTS.md verhindern Stack-Drift (keine Domain-Framework-Imports, FK-Cascade, …).</a:t>
            </a:r>
          </a:p>
          <a:p>
            <a:pPr>
              <a:lnSpc>
                <a:spcPct val="135000"/>
              </a:lnSpc>
            </a:pPr>
            <a:r>
              <a:rPr sz="15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500">
                <a:solidFill>
                  <a:srgbClr val="1F2128"/>
                </a:solidFill>
                <a:latin typeface="Helvetica Neue"/>
              </a:rPr>
              <a:t>User-Korrekturen werden als operative Regeln in AGENTS.md zementiert — Vermeidung von Wiederholungen.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82880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9202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5E6AD2"/>
                </a:solidFill>
                <a:latin typeface="Helvetica Neue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2606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Hard-Rules in AGENTS.md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320040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32918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5E6AD2"/>
                </a:solidFill>
                <a:latin typeface="Helvetica Neue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9776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ADRs für nicht-triviale Entscheidungen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4572000"/>
            <a:ext cx="3108960" cy="118872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46634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5E6AD2"/>
                </a:solidFill>
                <a:latin typeface="Helvetica Neue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3492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Real-bug Pitfalls dokumentiert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AGENTS.MD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Spec-first-Artefakt — der Agent-Vertrag in einer Datei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2128"/>
                </a:solidFill>
                <a:latin typeface="Helvetica Neue"/>
              </a:rPr>
              <a:t>Inhalt (29 Sections)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5486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60-Sekunden-Codebase-Summary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10 Hard-Rules (Architektur, RAG-Filter, FK-Cascade, …)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Critical Commands — exakte CLI-Aufrufe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Code-Style: Python (Dataclass/Pydantic), JS (kein TS)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Conventional-Commits-Template mit HEREDOC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Architecture-Contract: Ports-Tabelle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Domain-Knowledge: KE-Layer, Seed-Korpus, Migrations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Workflow für neue Features (12-Schritt-Rezept)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Common Pitfalls — 8 reale Bugs aus diesem Repo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When to ask vs. proceed — Entscheidungsmatrix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„Files to read first“-Lookup je Tasktyp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30352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Auszug — Hard Rule #6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3172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128"/>
                </a:solidFill>
                <a:latin typeface="Helvetica Neue"/>
              </a:rPr>
              <a:t>„Postgres enforces foreign keys; SQLite doesn't. When deleting tickets, always delete ticket_events first. Use _delete_tickets() — a direct DELETE will succeed on SQLite and fail on Postgres with ForeignKeyViolation.“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B8D98"/>
                </a:solidFill>
                <a:latin typeface="Helvetica Neue"/>
              </a:rPr>
              <a:t>Realer Bug in dieser Codebasis · Fix dokumentiert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5120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4F545C"/>
                </a:solidFill>
                <a:latin typeface="Helvetica Neue"/>
              </a:rPr>
              <a:t>Pre-empts: User wiederholt mich nicht.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486400"/>
            <a:ext cx="4937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Jede User-Korrektur die zukünftig relevant ist landet in AGENTS.md — der nächste Agent-Lauf liest sie und vermeidet den Fehler.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TOOLAUSWAHL &amp; BEGRÜNDUNG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Jede Wahl trade-off-getrieben, nicht Hype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155680" cy="393192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128"/>
                </a:solidFill>
                <a:latin typeface="Helvetica Neue"/>
              </a:rPr>
              <a:t>Bereich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74519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128"/>
                </a:solidFill>
                <a:latin typeface="Helvetica Neue"/>
              </a:rPr>
              <a:t>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79" y="1874519"/>
            <a:ext cx="3657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2128"/>
                </a:solidFill>
                <a:latin typeface="Helvetica Neue"/>
              </a:rPr>
              <a:t>Warum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21992"/>
            <a:ext cx="1115568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67712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128"/>
                </a:solidFill>
                <a:latin typeface="Helvetica Neue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267712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267712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Async-fähig, Pydantic-Integration, OpenAPI gratis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15184"/>
            <a:ext cx="11155680" cy="393192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660903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128"/>
                </a:solidFill>
                <a:latin typeface="Helvetica Neue"/>
              </a:rPr>
              <a:t>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660903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SQLAlchemy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660903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Dual-Backend SQLite/Postgres, mature, gut testbar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08376"/>
            <a:ext cx="1115568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54096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128"/>
                </a:solidFill>
                <a:latin typeface="Helvetica Neue"/>
              </a:rPr>
              <a:t>LLM-Gateway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054096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LiteLLM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3054096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Provider-agnostisch — Lock-in vermeiden (ADR 0003)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401568"/>
            <a:ext cx="11155680" cy="393192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47287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128"/>
                </a:solidFill>
                <a:latin typeface="Helvetica Neue"/>
              </a:rPr>
              <a:t>Klassifikation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447287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scikit-learn TF-IDF + NB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3447287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Klein, schnell, deterministisch — kein Embedding-Overhead bei &lt;10k Tickets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94760"/>
            <a:ext cx="1115568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40480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128"/>
                </a:solidFill>
                <a:latin typeface="Helvetica Neue"/>
              </a:rPr>
              <a:t>RAG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3840480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scikit-learn TfidfVectorizer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79" y="3840480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Gleiche Begründung wie oben — sentence-transformers wäre Over-engineering (ADR 0004)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87952"/>
            <a:ext cx="11155680" cy="393192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33672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128"/>
                </a:solidFill>
                <a:latin typeface="Helvetica Neue"/>
              </a:rPr>
              <a:t>KE-Engine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233672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Eigener YAML-Adapter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79" y="4233672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Operatoren editieren Regeln, kein Code-Change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81144"/>
            <a:ext cx="1115568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26864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128"/>
                </a:solidFill>
                <a:latin typeface="Helvetica Neue"/>
              </a:rPr>
              <a:t>Frontend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626864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React + Vite + Recharts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79" y="4626864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Schneller Dev-Cycle, kleine Bundles, Charts ohne extra Lib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74336"/>
            <a:ext cx="11155680" cy="393192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020055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128"/>
                </a:solidFill>
                <a:latin typeface="Helvetica Neue"/>
              </a:rPr>
              <a:t>Hosting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03120" y="5020055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Render (Blueprint)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79" y="5020055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Free Tier reicht für Demo, Auto-Deploy via Hook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367528"/>
            <a:ext cx="11155680" cy="393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413248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F2128"/>
                </a:solidFill>
                <a:latin typeface="Helvetica Neue"/>
              </a:rPr>
              <a:t>Quality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03120" y="5413248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ruff · pytest · Vitest · Playwright · bandit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79" y="5413248"/>
            <a:ext cx="41148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Eine CI-Pipeline, alle Layers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TEST-STRATEGIE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Drei-Schicht-Pyramide · 75 %-Coverage-Gate · CI-blocking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77440" y="1920240"/>
            <a:ext cx="310896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48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0" y="19933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5484D"/>
                </a:solidFill>
                <a:latin typeface="Helvetica Neue"/>
              </a:rPr>
              <a:t>E2E (Playwright)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3042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1–2 happy-path 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834640"/>
            <a:ext cx="45720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9077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A623"/>
                </a:solidFill>
                <a:latin typeface="Helvetica Neue"/>
              </a:rPr>
              <a:t>API (FastAPI TestClient)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21868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HTTP-Schemas, Auth, Rate-Limits, Mocked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749039"/>
            <a:ext cx="54864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25880" y="3822191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5E6AD2"/>
                </a:solidFill>
                <a:latin typeface="Helvetica Neue"/>
              </a:rPr>
              <a:t>Application (Use Cases)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13308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Coordinator-Logik gegen Fakes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64008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30A4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736592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0A46C"/>
                </a:solidFill>
                <a:latin typeface="Helvetica Neue"/>
              </a:rPr>
              <a:t>Unit (Pure Python)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04748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Domain-Regeln, Policy-Matcher, Cache, 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2128"/>
                </a:solidFill>
                <a:latin typeface="Helvetica Neue"/>
              </a:rPr>
              <a:t>Regeln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33172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70 Backend-Tests + 12 Frontend-Tests aktuell.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75 %-Coverage-Gate auf Backend (CI-blocking).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Tests isolieren DB in tmp-File via conftest.py — kein Leak in die Demo-DB.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LLM-Calls werden gemockt — keine Echtgeld-Calls in der Pipeline.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Neue Features starten mit dem Test (TDD).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200">
                <a:solidFill>
                  <a:srgbClr val="1F2128"/>
                </a:solidFill>
                <a:latin typeface="Helvetica Neue"/>
              </a:rPr>
              <a:t>ADMIN_API_KEY + Rate-Limit haben eigene Regression-Tests.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CI / CD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Push to main → Pipeline → Render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5E6AD2"/>
                </a:solidFill>
                <a:latin typeface="Menlo"/>
              </a:rPr>
              <a:t>ci.yml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B8D98"/>
                </a:solidFill>
                <a:latin typeface="Helvetica Neue"/>
              </a:rPr>
              <a:t>Trigger: push / 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128"/>
                </a:solidFill>
                <a:latin typeface="Helvetica Neue"/>
              </a:rPr>
              <a:t>ruff + pytest (75 %) +</a:t>
            </a:r>
            <a:br/>
            <a:r>
              <a:t>Vitest + ESLint +</a:t>
            </a:r>
            <a:br/>
            <a:r>
              <a:t>Vite build + Playwright +</a:t>
            </a:r>
            <a:br/>
            <a:r>
              <a:t>bandit + pip-audit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24527" y="3200400"/>
            <a:ext cx="146304" cy="365760"/>
          </a:xfrm>
          <a:prstGeom prst="rightArrow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5E6AD2"/>
                </a:solidFill>
                <a:latin typeface="Menlo"/>
              </a:rPr>
              <a:t>release.yml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B8D98"/>
                </a:solidFill>
                <a:latin typeface="Helvetica Neue"/>
              </a:rPr>
              <a:t>Trigger: git tag v*.*.*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128"/>
                </a:solidFill>
                <a:latin typeface="Helvetica Neue"/>
              </a:rPr>
              <a:t>Docker build →</a:t>
            </a:r>
            <a:br/>
            <a:r>
              <a:t>GHCR push →</a:t>
            </a:r>
            <a:br/>
            <a:r>
              <a:t>GitHub Release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065008" y="3200400"/>
            <a:ext cx="146304" cy="365760"/>
          </a:xfrm>
          <a:prstGeom prst="rightArrow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6576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5E6AD2"/>
                </a:solidFill>
                <a:latin typeface="Menlo"/>
              </a:rPr>
              <a:t>cd.yml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B8D98"/>
                </a:solidFill>
                <a:latin typeface="Helvetica Neue"/>
              </a:rPr>
              <a:t>Trigger: CI grün auf 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889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128"/>
                </a:solidFill>
                <a:latin typeface="Helvetica Neue"/>
              </a:rPr>
              <a:t>Render Deploy-Hook</a:t>
            </a:r>
            <a:br/>
            <a:r>
              <a:t>(API + Frontend)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94960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Render: Web-Service (FastAPI) + Static-Site (React) + Postgres   ·   Multi-stage Dockerfile (non-root, /health-Healthcheck)   ·   ADMIN_API_KEY-Gate · 30 req/min LLM-Rate-Limit · Forward-Merge-Migrations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SICHERHEITS-HÄRTUNG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Vom Demo-PoC zum produktionstauglichen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019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Vorher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90195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Nachher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9019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2128"/>
                </a:solidFill>
                <a:latin typeface="Helvetica Neue"/>
              </a:rPr>
              <a:t>Belegt durch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2316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963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Admin-Endpoints offen für jedermann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49631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ADMIN_API_KEY-Pflicht · Default = 503 ohne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4963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tests/api/test_admin_auth.py · 5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09067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Stack-Traces im 500-Response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09067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Globaler Error-Handler · request_id-Korrelation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09067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tests/api/test_error_handlers.py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61188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850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LLM-Endpoints unbeschränkt rufbar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68503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30 req/min pro IP via slowapi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36850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tests/api/test_rate_limit.py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CORS akzeptierte jede Render-App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27939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Regex eng auf eigene Frontend-Domain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2793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render.yaml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0060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87375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Analytics-Recompute auf jedem Page-Load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487375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60 s TTL-Cache mit Invalidate auf Mutationen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8737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tests/unit/test_analytics_cache.py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9496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46811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RAG-Index aktualisiert nur manuell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468112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Auto-Rebuild nach /tickets/decision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546811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SaveTriageDecisionUseCase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HERAUSFORDERUNGEN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Was hat überraschend gebissen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Postgres vs. SQLite FK-Verhalten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Delete auf Tickets ohne vorheriges Delete der Events lief lokal grün, scheiterte auf Render mit ForeignKeyViolation. Fix: _delete_tickets()-Helper.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6148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Test-Suite verschmutzte Demo-DB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4553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200+ pytest-Fixtures (WB-VIEWS-CLAUDIO, Workflow Close Test) landeten in der Live-DB. Fix: conftest.py setzt DATABASE_URL vor erstem app-Import auf tmp-File.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94176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67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Composite-Prio kollabierte auf Score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78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45 von 99 Tickets im Default-Bucket. Ursache: Matcher AND-verknüpfte tags_any und title_any. Fix: OR-Semantik + Default 2×2=4.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26864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LocalStorage-Migration übersehen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10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Returning-Users sahen die neuen Workbench-Spalten nicht. Fix: forward-merge fehlender Defaults in TicketsPage.jsx.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59552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4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6327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5E6AD2"/>
                </a:solidFill>
                <a:latin typeface="Helvetica Neue"/>
              </a:rPr>
              <a:t>DB-Engine wird beim Import angelegt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4F545C"/>
                </a:solidFill>
                <a:latin typeface="Helvetica Neue"/>
              </a:rPr>
              <a:t>Macht Test-Isolation fragil. Aktuelle Lösung: Env-Var-Override vor Import. Sauberer wäre lazy get_engine() — bewusst nicht umgesetzt (Aufwand vs. Nutzen).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LERNERFAHRUNGEN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Was ich beim nächsten Projekt mitnehme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AD2"/>
                </a:solidFill>
                <a:latin typeface="Helvetica Neue"/>
              </a:rPr>
              <a:t>Retrieval schlägt Prompt-Engineering.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128"/>
                </a:solidFill>
                <a:latin typeface="Helvetica Neue"/>
              </a:rPr>
              <a:t>Eine simple TF-IDF-Schicht über reviewte Tickets hat mehr Konsistenz gebracht als jede Prompt-Iteration.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761488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34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AD2"/>
                </a:solidFill>
                <a:latin typeface="Helvetica Neue"/>
              </a:rPr>
              <a:t>Knowledge-Engineering und ML sind Komplemente.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45536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128"/>
                </a:solidFill>
                <a:latin typeface="Helvetica Neue"/>
              </a:rPr>
              <a:t>Der Klassifikator weiß was es ist; das Regelwerk weiß was zu tun ist. Beides zusammen ergibt explainable + auditable Triage.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94176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67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AD2"/>
                </a:solidFill>
                <a:latin typeface="Helvetica Neue"/>
              </a:rPr>
              <a:t>Hexagonal zahlt sich exakt dann aus, wenn es weh tun würde.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78224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128"/>
                </a:solidFill>
                <a:latin typeface="Helvetica Neue"/>
              </a:rPr>
              <a:t>SQLite → Postgres war 1 Env-Var. LiteLLM → anderer Provider wäre 1 Datei. Disziplin am Anfang spart Stunden später.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626864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0001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AD2"/>
                </a:solidFill>
                <a:latin typeface="Helvetica Neue"/>
              </a:rPr>
              <a:t>AGENTS.md ist das wichtigste Artefakt im AI-Workflow.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1091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128"/>
                </a:solidFill>
                <a:latin typeface="Helvetica Neue"/>
              </a:rPr>
              <a:t>Jede User-Korrektur die als Regel kodifiziert wird, vermeidet identische Fehler in zukünftigen Sessions. Der Agent wird besser im Verlauf eines Projekts.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559552"/>
            <a:ext cx="11155680" cy="868680"/>
          </a:xfrm>
          <a:prstGeom prst="roundRect">
            <a:avLst>
              <a:gd name="adj" fmla="val 8000"/>
            </a:avLst>
          </a:prstGeom>
          <a:solidFill>
            <a:srgbClr val="ECEEFB"/>
          </a:solidFill>
          <a:ln w="9525">
            <a:solidFill>
              <a:srgbClr val="5E6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63270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5E6AD2"/>
                </a:solidFill>
                <a:latin typeface="Helvetica Neue"/>
              </a:rPr>
              <a:t>CI-Qualitätsgates sind die billigste Versicherung.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43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F2128"/>
                </a:solidFill>
                <a:latin typeface="Helvetica Neue"/>
              </a:rPr>
              <a:t>Coverage-Gate, ruff, bandit, pip-audit, npm audit haben mehrfach Regressionen vor dem Merge gefangen.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5E6AD2"/>
                </a:solidFill>
                <a:latin typeface="Helvetica Neue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128"/>
                </a:solidFill>
                <a:latin typeface="Helvetica Neue"/>
              </a:rPr>
              <a:t>AI-Empfehlung · KE-Priorisierung · Workbench ·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1097280" cy="45720"/>
          </a:xfrm>
          <a:prstGeom prst="rect">
            <a:avLst/>
          </a:prstGeom>
          <a:solidFill>
            <a:srgbClr val="5E6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ckets-work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7315200" cy="41583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2128"/>
                </a:solidFill>
                <a:latin typeface="Helvetica Neue"/>
              </a:rPr>
              <a:t>Probier es selbst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33172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1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100">
                <a:solidFill>
                  <a:srgbClr val="1F2128"/>
                </a:solidFill>
                <a:latin typeface="Helvetica Neue"/>
              </a:rPr>
              <a:t>https://ai-assisted-ticket-triage-frontend.onrender.com/</a:t>
            </a:r>
          </a:p>
          <a:p>
            <a:pPr>
              <a:lnSpc>
                <a:spcPct val="135000"/>
              </a:lnSpc>
            </a:pPr>
            <a:r>
              <a:rPr sz="11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100">
                <a:solidFill>
                  <a:srgbClr val="1F2128"/>
                </a:solidFill>
                <a:latin typeface="Helvetica Neue"/>
              </a:rPr>
              <a:t>Sortier nach „Prio-Score“ → AML/Payments oben.</a:t>
            </a:r>
          </a:p>
          <a:p>
            <a:pPr>
              <a:lnSpc>
                <a:spcPct val="135000"/>
              </a:lnSpc>
            </a:pPr>
            <a:r>
              <a:rPr sz="11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100">
                <a:solidFill>
                  <a:srgbClr val="1F2128"/>
                </a:solidFill>
                <a:latin typeface="Helvetica Neue"/>
              </a:rPr>
              <a:t>Erfasse ein VPN-/Passwort-Ticket → siehe KE-Block im Modal.</a:t>
            </a:r>
          </a:p>
          <a:p>
            <a:pPr>
              <a:lnSpc>
                <a:spcPct val="135000"/>
              </a:lnSpc>
            </a:pPr>
            <a:r>
              <a:rPr sz="1100" b="1">
                <a:solidFill>
                  <a:srgbClr val="5E6AD2"/>
                </a:solidFill>
                <a:latin typeface="Helvetica Neue"/>
              </a:rPr>
              <a:t>▸  </a:t>
            </a:r>
            <a:r>
              <a:rPr sz="1100">
                <a:solidFill>
                  <a:srgbClr val="1F2128"/>
                </a:solidFill>
                <a:latin typeface="Helvetica Neue"/>
              </a:rPr>
              <a:t>Reports → „Priorisierung &amp; Aufwand“-Section.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029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2128"/>
                </a:solidFill>
                <a:latin typeface="Helvetica Neue"/>
              </a:rPr>
              <a:t>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5440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E6AD2"/>
                </a:solidFill>
                <a:latin typeface="Helvetica Neue"/>
              </a:rPr>
              <a:t>github.com/clavinci94/ai-assisted-ticket-triage-platform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5E6AD2"/>
                </a:solidFill>
                <a:latin typeface="Helvetica Neue"/>
              </a:rPr>
              <a:t>Fragen?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4F545C"/>
                </a:solidFill>
                <a:latin typeface="Helvetica Neue"/>
              </a:rPr>
              <a:t>Repo  ·  Live Demo  ·  AGENTS.md  ·  ADRs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8B8D98"/>
                </a:solidFill>
                <a:latin typeface="Helvetica Neue"/>
              </a:rPr>
              <a:t>github.com/clavinci94/ai-assisted-ticket-triage-platform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AI-Assisted Ticket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8B8D98"/>
                </a:solidFill>
                <a:latin typeface="Helvetica Neue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